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2C3A78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685800"/>
            <a:ext cx="1463040" cy="146304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7310" y="1066190"/>
            <a:ext cx="702259" cy="7022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eラーニング講座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19385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1-1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25146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経営判断の</a:t>
            </a:r>
            <a:endParaRPr lang="en-US" sz="52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デジタルコピー構築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54864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属人化した意思決定をAIで再現し、組織の判断力を「資産」に変える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525780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2C3A7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52578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再現性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423160" y="525780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2C3A7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23160" y="52578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継承性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297680" y="525780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2C3A7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97680" y="52578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拡張性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8894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/ 30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45920" y="502920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45920" y="786384"/>
            <a:ext cx="9994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本セクションのねらい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874520"/>
            <a:ext cx="713232" cy="713232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688" y="2059960"/>
            <a:ext cx="342351" cy="3423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1856232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課題を理解する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029200" y="1819656"/>
            <a:ext cx="6245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経営判断が特定の個人に依存する「属人化」の構造と、その事業リスクを理解する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48640" y="2916936"/>
            <a:ext cx="1109167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41248" y="3099816"/>
            <a:ext cx="713232" cy="713232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688" y="3285256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28800" y="3081528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概念を説明できる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029200" y="3044952"/>
            <a:ext cx="6245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「デジタルコピー」とは何か、従来の業務自動化との違いを自分の言葉で説明できる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4142232"/>
            <a:ext cx="1109167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1248" y="4325112"/>
            <a:ext cx="713232" cy="713232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688" y="4510552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4306824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構築手順を把握する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5029200" y="4270248"/>
            <a:ext cx="6245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判断を収集・言語化・モデル化し、AIで再現するまでの5つのステップを把握する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548640" y="5367528"/>
            <a:ext cx="1109167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41248" y="5550408"/>
            <a:ext cx="713232" cy="713232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688" y="5735848"/>
            <a:ext cx="342351" cy="34235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828800" y="553212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リスクと役割を認識する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5029200" y="5495544"/>
            <a:ext cx="6245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導入に伴うリスクと、その中で人間が担い続けるべき役割を認識する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/ 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45920" y="502920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AGENDA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45920" y="786384"/>
            <a:ext cx="9994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このセクションの構成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172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167128"/>
            <a:ext cx="822960" cy="82296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70" y="2381098"/>
            <a:ext cx="395021" cy="3950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2167128"/>
            <a:ext cx="3671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 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965960" y="2441448"/>
            <a:ext cx="367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なぜ今、必要か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914400" y="3200400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属人化の課題と時代背景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23076" y="1783080"/>
            <a:ext cx="53172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88836" y="2167128"/>
            <a:ext cx="822960" cy="82296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806" y="2381098"/>
            <a:ext cx="395021" cy="39502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40396" y="2167128"/>
            <a:ext cx="3671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 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740396" y="2441448"/>
            <a:ext cx="367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デジタルコピーとは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6688836" y="3200400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概念・自動化との違い・判断の構造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48640" y="4114800"/>
            <a:ext cx="53172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14400" y="4498848"/>
            <a:ext cx="822960" cy="82296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370" y="4712818"/>
            <a:ext cx="395021" cy="39502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65960" y="4498848"/>
            <a:ext cx="3671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 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965960" y="4773168"/>
            <a:ext cx="367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どう構築するか</a:t>
            </a:r>
            <a:endParaRPr lang="en-US" sz="2100" dirty="0"/>
          </a:p>
        </p:txBody>
      </p:sp>
      <p:sp>
        <p:nvSpPr>
          <p:cNvPr id="23" name="Text 18"/>
          <p:cNvSpPr/>
          <p:nvPr/>
        </p:nvSpPr>
        <p:spPr>
          <a:xfrm>
            <a:off x="914400" y="5532120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収集から実装までの5ステップ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323076" y="4114800"/>
            <a:ext cx="53172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688836" y="4498848"/>
            <a:ext cx="822960" cy="82296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2806" y="4712818"/>
            <a:ext cx="395021" cy="39502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740396" y="4498848"/>
            <a:ext cx="3671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 4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740396" y="4773168"/>
            <a:ext cx="367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効果・リスク・これから</a:t>
            </a:r>
            <a:endParaRPr lang="en-US" sz="2100" dirty="0"/>
          </a:p>
        </p:txBody>
      </p:sp>
      <p:sp>
        <p:nvSpPr>
          <p:cNvPr id="29" name="Text 23"/>
          <p:cNvSpPr/>
          <p:nvPr/>
        </p:nvSpPr>
        <p:spPr>
          <a:xfrm>
            <a:off x="6688836" y="5532120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活用シーン／人間の役割／ロードマップ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/ 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2C3A78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経営判断のデジタルコピーとは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91672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74520"/>
            <a:ext cx="11091672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874520"/>
            <a:ext cx="101772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経営者・管理者の意思決定パターン</a:t>
            </a:r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を、判断の根拠ごとデータ化・モデル化し、
</a:t>
            </a:r>
            <a:pPr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AIによって同等の判断を再現する</a:t>
            </a:r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仕組み。単なる作業の自動化ではなく、
</a:t>
            </a:r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「なぜそう判断するのか」という思考そのものを組織の資産として複製する。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3453384" cy="1417320"/>
          </a:xfrm>
          <a:prstGeom prst="roundRect">
            <a:avLst>
              <a:gd name="adj" fmla="val 7742"/>
            </a:avLst>
          </a:prstGeom>
          <a:solidFill>
            <a:srgbClr val="2C3A7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416552"/>
            <a:ext cx="3453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再現性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31520" y="4983480"/>
            <a:ext cx="3087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同じ状況で同じ判断を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7784" y="4160520"/>
            <a:ext cx="3453384" cy="1417320"/>
          </a:xfrm>
          <a:prstGeom prst="roundRect">
            <a:avLst>
              <a:gd name="adj" fmla="val 7742"/>
            </a:avLst>
          </a:prstGeom>
          <a:solidFill>
            <a:srgbClr val="2C3A7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7784" y="4416552"/>
            <a:ext cx="3453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継承性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4550664" y="4983480"/>
            <a:ext cx="3087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人が代わっても失われない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86928" y="4160520"/>
            <a:ext cx="3453384" cy="1417320"/>
          </a:xfrm>
          <a:prstGeom prst="roundRect">
            <a:avLst>
              <a:gd name="adj" fmla="val 7742"/>
            </a:avLst>
          </a:prstGeom>
          <a:solidFill>
            <a:srgbClr val="2C3A7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6928" y="4416552"/>
            <a:ext cx="3453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拡張性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369808" y="4983480"/>
            <a:ext cx="3087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組織全体に横展開できる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8894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/ 30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45920" y="502920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45920" y="786384"/>
            <a:ext cx="9994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なぜ今、必要とされるのか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6295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057400"/>
            <a:ext cx="777240" cy="77724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2259482"/>
            <a:ext cx="373075" cy="373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2029968"/>
            <a:ext cx="3808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熟練人材の引退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14400" y="2697480"/>
            <a:ext cx="46771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経営を支えてきたベテランが退き、後継者不足で判断ノウハウが失われつつある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77356" y="1737360"/>
            <a:ext cx="536295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97396" y="2057400"/>
            <a:ext cx="777240" cy="77724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478" y="2259482"/>
            <a:ext cx="373075" cy="3730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03236" y="2029968"/>
            <a:ext cx="3808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意思決定の高速化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6643116" y="2697480"/>
            <a:ext cx="46771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市場変化のスピードが増し、より速く・多くの判断を下すことが求められている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3794760"/>
            <a:ext cx="536295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4114800"/>
            <a:ext cx="777240" cy="77724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316882"/>
            <a:ext cx="373075" cy="3730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74520" y="4087368"/>
            <a:ext cx="3808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生成AIの実用化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914400" y="4754880"/>
            <a:ext cx="46771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大規模言語モデルにより、曖昧で文脈依存な「判断」の再現が現実的になった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277356" y="3794760"/>
            <a:ext cx="536295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97396" y="4114800"/>
            <a:ext cx="777240" cy="77724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9478" y="4316882"/>
            <a:ext cx="373075" cy="37307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03236" y="4087368"/>
            <a:ext cx="3808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ナレッジ散逸リスク</a:t>
            </a:r>
            <a:endParaRPr lang="en-US" sz="1900" dirty="0"/>
          </a:p>
        </p:txBody>
      </p:sp>
      <p:sp>
        <p:nvSpPr>
          <p:cNvPr id="25" name="Text 19"/>
          <p:cNvSpPr/>
          <p:nvPr/>
        </p:nvSpPr>
        <p:spPr>
          <a:xfrm>
            <a:off x="6643116" y="4754880"/>
            <a:ext cx="46771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判断の根拠が記録されず、退職や異動のたびに暗黙知が組織から消えていく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/ 30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45920" y="502920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45920" y="786384"/>
            <a:ext cx="9994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課題：経営判断の「属人化」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重要な判断ほど、特定の「あの人」に依存していないか。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2532888" cy="3108960"/>
          </a:xfrm>
          <a:prstGeom prst="roundRect">
            <a:avLst>
              <a:gd name="adj" fmla="val 361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03604" y="2423160"/>
            <a:ext cx="822960" cy="82296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7574" y="2637130"/>
            <a:ext cx="395021" cy="39502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383280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特定個人への依存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9808" y="4114800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重要判断が一人の経験と勘に集中している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401568" y="2057400"/>
            <a:ext cx="2532888" cy="3108960"/>
          </a:xfrm>
          <a:prstGeom prst="roundRect">
            <a:avLst>
              <a:gd name="adj" fmla="val 361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56532" y="2423160"/>
            <a:ext cx="822960" cy="82296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502" y="2637130"/>
            <a:ext cx="395021" cy="39502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38728" y="3383280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基準のブラックボックス化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602736" y="4114800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なぜその結論なのか、他者には見えない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54496" y="2057400"/>
            <a:ext cx="2532888" cy="3108960"/>
          </a:xfrm>
          <a:prstGeom prst="roundRect">
            <a:avLst>
              <a:gd name="adj" fmla="val 361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09460" y="2423160"/>
            <a:ext cx="822960" cy="82296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430" y="2637130"/>
            <a:ext cx="395021" cy="39502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91656" y="3383280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継承・育成に時間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55664" y="4114800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後継者が同じ判断力を得るまで数年かかる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9107424" y="2057400"/>
            <a:ext cx="2532888" cy="3108960"/>
          </a:xfrm>
          <a:prstGeom prst="roundRect">
            <a:avLst>
              <a:gd name="adj" fmla="val 361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962388" y="2423160"/>
            <a:ext cx="822960" cy="82296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6358" y="2637130"/>
            <a:ext cx="395021" cy="39502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44584" y="3383280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不在時の停滞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308592" y="4114800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本人がいないと意思決定が止まってしまう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/ 30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45920" y="502920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RISKS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45920" y="786384"/>
            <a:ext cx="9994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属人化がもたらす3つのリスク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422904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240280"/>
            <a:ext cx="3057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2205228" y="3566160"/>
            <a:ext cx="109728" cy="109728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9476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事業継続リスク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4343400"/>
            <a:ext cx="2874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キーパーソンの離脱で、判断機能そのものが失われる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83024" y="1874520"/>
            <a:ext cx="3422904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65904" y="2240280"/>
            <a:ext cx="3057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13" name="Shape 11"/>
          <p:cNvSpPr/>
          <p:nvPr/>
        </p:nvSpPr>
        <p:spPr>
          <a:xfrm>
            <a:off x="6039612" y="3566160"/>
            <a:ext cx="109728" cy="109728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4" name="Text 12"/>
          <p:cNvSpPr/>
          <p:nvPr/>
        </p:nvSpPr>
        <p:spPr>
          <a:xfrm>
            <a:off x="4565904" y="379476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品質のばらつき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57344" y="4343400"/>
            <a:ext cx="2874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判断者が代わると結論が変わり、一貫性が保てない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17408" y="1874520"/>
            <a:ext cx="3422904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00288" y="2240280"/>
            <a:ext cx="3057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18" name="Shape 16"/>
          <p:cNvSpPr/>
          <p:nvPr/>
        </p:nvSpPr>
        <p:spPr>
          <a:xfrm>
            <a:off x="9873996" y="3566160"/>
            <a:ext cx="109728" cy="109728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9" name="Text 17"/>
          <p:cNvSpPr/>
          <p:nvPr/>
        </p:nvSpPr>
        <p:spPr>
          <a:xfrm>
            <a:off x="8400288" y="379476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スケールの限界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491728" y="4343400"/>
            <a:ext cx="2874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一人が処理できる判断量が、事業成長の頭打ちになる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/ 30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2C3A78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「デジタルコピー」という発想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2194560" cy="219456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3546" y="2856586"/>
            <a:ext cx="1053389" cy="10533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749040" y="21488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人の頭の中にある判断を“コピー”し、
</a:t>
            </a:r>
            <a:pPr indent="0" marL="0">
              <a:lnSpc>
                <a:spcPts val="38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組織みんなが使える共有資産にする。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3749040" y="34290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書類のコピーが原本と同じ内容を何枚でも生み出すように、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判断のデジタルコピーは、熟練者と同じ「考え方」を、時間や場所を超えて何度でも再現する。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65276" y="5074920"/>
            <a:ext cx="2743200" cy="777240"/>
          </a:xfrm>
          <a:prstGeom prst="roundRect">
            <a:avLst>
              <a:gd name="adj" fmla="val 14118"/>
            </a:avLst>
          </a:prstGeom>
          <a:solidFill>
            <a:srgbClr val="2C3A7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5276" y="50749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個人の暗黙知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08476" y="50749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722876" y="5074920"/>
            <a:ext cx="2743200" cy="777240"/>
          </a:xfrm>
          <a:prstGeom prst="roundRect">
            <a:avLst>
              <a:gd name="adj" fmla="val 14118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22876" y="50749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デジタルコピー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466076" y="50749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8380476" y="5074920"/>
            <a:ext cx="2743200" cy="777240"/>
          </a:xfrm>
          <a:prstGeom prst="roundRect">
            <a:avLst>
              <a:gd name="adj" fmla="val 14118"/>
            </a:avLst>
          </a:prstGeom>
          <a:solidFill>
            <a:srgbClr val="2C3A7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80476" y="50749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組織の共有資産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8894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 / 30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45920" y="502920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45920" y="786384"/>
            <a:ext cx="9994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単なる自動化との違い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17236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148840"/>
            <a:ext cx="731520" cy="731520"/>
          </a:xfrm>
          <a:prstGeom prst="ellipse">
            <a:avLst/>
          </a:prstGeom>
          <a:solidFill>
            <a:srgbClr val="6B7A99"/>
          </a:solidFill>
          <a:ln/>
          <a:effectLst>
            <a:outerShdw sx="100000" sy="100000" kx="0" ky="0" algn="bl" rotWithShape="0" blurRad="76200" dist="25400" dir="5400000">
              <a:srgbClr val="6B7A99">
                <a:alpha val="2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2339035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148840"/>
            <a:ext cx="38541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従来の業務自動化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60120" y="3154680"/>
            <a:ext cx="45399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あらかじめ決めたルールを実行する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60120" y="3721608"/>
            <a:ext cx="45399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手順が明確な定型業務が対象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60120" y="4288536"/>
            <a:ext cx="45399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想定外の例外にはうまく対応できない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60120" y="4855464"/>
            <a:ext cx="45399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「判断」そのものは人が行う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323076" y="1783080"/>
            <a:ext cx="5317236" cy="384048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88836" y="2148840"/>
            <a:ext cx="731520" cy="7315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9031" y="2339035"/>
            <a:ext cx="351130" cy="35113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603236" y="2148840"/>
            <a:ext cx="38541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判断のデジタルコピー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6734556" y="3154680"/>
            <a:ext cx="45399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判断基準・価値観そのものを学習する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6734556" y="3721608"/>
            <a:ext cx="45399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曖昧で非定型な意思決定が対象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6734556" y="4288536"/>
            <a:ext cx="45399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文脈を読み、例外にも応答できる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6734556" y="4855464"/>
            <a:ext cx="45399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「判断」自体をAIが再現する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 / 30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45920" y="502920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45920" y="786384"/>
            <a:ext cx="9994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経営判断を分解する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再現するには、まず「判断」を要素に分解して見える化する。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324612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737360" y="2560320"/>
            <a:ext cx="868680" cy="86868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3217" y="2786177"/>
            <a:ext cx="416966" cy="41696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5661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情報インプット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" y="40690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どんな情報を、どこまで集めて判断材料にするか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794760" y="2194560"/>
            <a:ext cx="67665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471416" y="2194560"/>
            <a:ext cx="324612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60136" y="2560320"/>
            <a:ext cx="868680" cy="86868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993" y="2786177"/>
            <a:ext cx="416966" cy="41696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54296" y="35661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判断基準の適用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745736" y="40690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集めた情報をどの軸・優先順位で評価するか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7717536" y="2194560"/>
            <a:ext cx="67665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8394192" y="2194560"/>
            <a:ext cx="324612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582912" y="2560320"/>
            <a:ext cx="868680" cy="86868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8769" y="2786177"/>
            <a:ext cx="416966" cy="41696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77072" y="35661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意思決定アウトプット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668512" y="40690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評価をもとに、最終的にどの選択肢を選ぶか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 / 30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45920" y="502920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ELEMENTS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45920" y="786384"/>
            <a:ext cx="9994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判断を構成する3つの要素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392424" cy="356616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87652" y="2194560"/>
            <a:ext cx="914400" cy="91440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396" y="243230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29184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31520" y="379476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何を見るか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4251960"/>
            <a:ext cx="2752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判断に使う情報の範囲と、見るべき指標の選び方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98264" y="1783080"/>
            <a:ext cx="3392424" cy="356616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37276" y="2194560"/>
            <a:ext cx="914400" cy="91440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020" y="2432304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81144" y="329184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基準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4581144" y="379476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どう評価するか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718304" y="4251960"/>
            <a:ext cx="2752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情報を測るものさし。良し悪しを分ける閾値やルール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8247888" y="1783080"/>
            <a:ext cx="3392424" cy="356616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486900" y="2194560"/>
            <a:ext cx="914400" cy="91440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644" y="2432304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30768" y="329184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価値観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8430768" y="379476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何を優先するか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567928" y="4251960"/>
            <a:ext cx="2752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複数の基準が衝突したとき、最後に効く優先順位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 / 30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45920" y="502920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TACIT &amp; EXPLICIT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45920" y="786384"/>
            <a:ext cx="9994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暗黙知と形式知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17236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148840"/>
            <a:ext cx="731520" cy="7315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2339035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148840"/>
            <a:ext cx="38541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暗黙知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60120" y="3017520"/>
            <a:ext cx="45399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言葉になっていない、経験と勘に基づく判断力。本人も無意識に使っているため、そのままでは他者に渡せない。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323076" y="1783080"/>
            <a:ext cx="5317236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88836" y="2148840"/>
            <a:ext cx="731520" cy="7315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9031" y="233903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03236" y="2148840"/>
            <a:ext cx="38541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形式知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734556" y="3017520"/>
            <a:ext cx="45399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言葉・数値・ルールで表現され、記録・共有できる知識。マニュアルや基準書のように、他者に渡し再現できる。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4251960"/>
            <a:ext cx="11091672" cy="1371600"/>
          </a:xfrm>
          <a:prstGeom prst="roundRect">
            <a:avLst>
              <a:gd name="adj" fmla="val 9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1E2761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05840" y="4526280"/>
            <a:ext cx="822960" cy="82296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810" y="474025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103120" y="4251960"/>
            <a:ext cx="9079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KEY  </a:t>
            </a:r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デジタルコピーの核心は、この</a:t>
            </a:r>
            <a:pPr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「暗黙知を形式知に変える」</a:t>
            </a:r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作業にある。</a:t>
            </a:r>
            <a:endParaRPr lang="en-US" sz="15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見えていなかった判断の根拠を引き出し、言語化することがすべての出発点となる。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 / 30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2C3A78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構築の全体像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判断の材料を集め、基準を言葉にし、AIに載せ、使いながら磨き続ける一連の流れ。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74420" y="2697480"/>
            <a:ext cx="777240" cy="77724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6502" y="2899562"/>
            <a:ext cx="373075" cy="3730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収集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377440" y="2423160"/>
            <a:ext cx="4869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864358" y="2423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90138" y="2697480"/>
            <a:ext cx="777240" cy="77724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220" y="2899562"/>
            <a:ext cx="373075" cy="37307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64358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864358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言語化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693158" y="2423160"/>
            <a:ext cx="4869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180076" y="2423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705856" y="2697480"/>
            <a:ext cx="777240" cy="77724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938" y="2899562"/>
            <a:ext cx="373075" cy="37307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80076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180076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モデル化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7008876" y="2423160"/>
            <a:ext cx="4869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7495794" y="2423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021574" y="2697480"/>
            <a:ext cx="777240" cy="77724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656" y="2899562"/>
            <a:ext cx="373075" cy="37307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95794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4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495794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AI実装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9324594" y="2423160"/>
            <a:ext cx="4869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800" dirty="0"/>
          </a:p>
        </p:txBody>
      </p:sp>
      <p:sp>
        <p:nvSpPr>
          <p:cNvPr id="31" name="Shape 25"/>
          <p:cNvSpPr/>
          <p:nvPr/>
        </p:nvSpPr>
        <p:spPr>
          <a:xfrm>
            <a:off x="9811512" y="2423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10337292" y="2697480"/>
            <a:ext cx="777240" cy="77724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9374" y="2899562"/>
            <a:ext cx="373075" cy="373075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811512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5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9811512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検証・改善</a:t>
            </a:r>
            <a:endParaRPr lang="en-US" sz="1700" dirty="0"/>
          </a:p>
        </p:txBody>
      </p:sp>
      <p:sp>
        <p:nvSpPr>
          <p:cNvPr id="36" name="Shape 29"/>
          <p:cNvSpPr/>
          <p:nvPr/>
        </p:nvSpPr>
        <p:spPr>
          <a:xfrm>
            <a:off x="548640" y="4709160"/>
            <a:ext cx="11091672" cy="777240"/>
          </a:xfrm>
          <a:prstGeom prst="roundRect">
            <a:avLst>
              <a:gd name="adj" fmla="val 49412"/>
            </a:avLst>
          </a:prstGeom>
          <a:solidFill>
            <a:srgbClr val="2C3A7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914400" y="470916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◀ ─ ─ ─  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検証で得た気づきを収集・言語化に戻し、精度を継続的に高めるループを回す</a:t>
            </a:r>
            <a:endParaRPr lang="en-US" sz="1500" dirty="0"/>
          </a:p>
        </p:txBody>
      </p:sp>
      <p:sp>
        <p:nvSpPr>
          <p:cNvPr id="38" name="Text 3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8894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 / 30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45920" y="502920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 STEPS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45920" y="786384"/>
            <a:ext cx="9994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構築の5ステップ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828800"/>
            <a:ext cx="566928" cy="566928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1801368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180136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判断事例の収集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217920" y="1801368"/>
            <a:ext cx="5148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過去の意思決定とその背景・結果をデータとして集める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15184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2752344"/>
            <a:ext cx="566928" cy="566928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2752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00200" y="272491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88920" y="2724912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判断基準の言語化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217920" y="2724912"/>
            <a:ext cx="5148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「なぜそう決めたか」を引き出し、明文化する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538728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3675888"/>
            <a:ext cx="566928" cy="566928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675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00200" y="3648456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88920" y="364845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モデル化・ルール化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17920" y="3648456"/>
            <a:ext cx="5148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言語化した基準を構造化し、再現可能な形にする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462272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599432"/>
            <a:ext cx="566928" cy="566928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599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600200" y="457200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88920" y="457200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AIへの実装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217920" y="4572000"/>
            <a:ext cx="5148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生成AIに載せ、判断を返すエンジンとして動かす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5385816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4672" y="5522976"/>
            <a:ext cx="566928" cy="566928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" y="5522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600200" y="5495544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88920" y="549554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検証と継続的改善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217920" y="5495544"/>
            <a:ext cx="5148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実際の判断と照合し、フィードバックで精度を高める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 / 30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00200"/>
            <a:ext cx="3108960" cy="411480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21945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914400" y="4480560"/>
            <a:ext cx="914400" cy="91440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471830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44805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判断事例の収集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645920" y="502920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 OF 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645920" y="786384"/>
            <a:ext cx="9994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判断事例の収集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4114800" y="1691640"/>
            <a:ext cx="7525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まずは、過去にどんな判断を下してきたかを集めることから始める。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4114800" y="2468880"/>
            <a:ext cx="752551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43400" y="2651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2"/>
          <p:cNvSpPr/>
          <p:nvPr/>
        </p:nvSpPr>
        <p:spPr>
          <a:xfrm>
            <a:off x="434340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892040" y="2468880"/>
            <a:ext cx="6519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対象：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過去の意思決定・その時の状況・実際の結果をセットで集める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114800" y="3310128"/>
            <a:ext cx="752551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43400" y="3493008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6"/>
          <p:cNvSpPr/>
          <p:nvPr/>
        </p:nvSpPr>
        <p:spPr>
          <a:xfrm>
            <a:off x="4343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892040" y="3310128"/>
            <a:ext cx="6519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データ源：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議事録、稟議書、報告メール、意思決定者へのインタビュー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114800" y="4151376"/>
            <a:ext cx="752551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343400" y="4334256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0"/>
          <p:cNvSpPr/>
          <p:nvPr/>
        </p:nvSpPr>
        <p:spPr>
          <a:xfrm>
            <a:off x="434340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892040" y="4151376"/>
            <a:ext cx="6519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ポイント：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成功例だけでなく、見送った案件や失敗例も同じくらい重要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114800" y="4992624"/>
            <a:ext cx="752551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343400" y="5175504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4"/>
          <p:cNvSpPr/>
          <p:nvPr/>
        </p:nvSpPr>
        <p:spPr>
          <a:xfrm>
            <a:off x="4343400" y="5175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892040" y="4992624"/>
            <a:ext cx="6519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量の目安：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判断のパターンを網羅できるだけの事例数を確保する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 / 30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00200"/>
            <a:ext cx="3108960" cy="411480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21945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914400" y="4480560"/>
            <a:ext cx="914400" cy="91440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471830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44805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判断基準の言語化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645920" y="502920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 OF 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645920" y="786384"/>
            <a:ext cx="9994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判断基準の言語化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4114800" y="1691640"/>
            <a:ext cx="7525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「なんとなく」を放置しない。判断の裏にある理由を言葉にする。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4114800" y="2468880"/>
            <a:ext cx="752551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43400" y="2651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2"/>
          <p:cNvSpPr/>
          <p:nvPr/>
        </p:nvSpPr>
        <p:spPr>
          <a:xfrm>
            <a:off x="434340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892040" y="2468880"/>
            <a:ext cx="6519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問いかけ：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なぜその選択をしたのか、何を見て決めたのかを掘り下げる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114800" y="3310128"/>
            <a:ext cx="752551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43400" y="3493008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6"/>
          <p:cNvSpPr/>
          <p:nvPr/>
        </p:nvSpPr>
        <p:spPr>
          <a:xfrm>
            <a:off x="4343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892040" y="3310128"/>
            <a:ext cx="6519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手法：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判断の因数分解、5回のなぜ、比較事例による基準のあぶり出し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114800" y="4151376"/>
            <a:ext cx="752551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343400" y="4334256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0"/>
          <p:cNvSpPr/>
          <p:nvPr/>
        </p:nvSpPr>
        <p:spPr>
          <a:xfrm>
            <a:off x="434340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892040" y="4151376"/>
            <a:ext cx="6519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成果物：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判断基準を箇条書き・チェックリストとして明文化する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114800" y="4992624"/>
            <a:ext cx="752551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343400" y="5175504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4"/>
          <p:cNvSpPr/>
          <p:nvPr/>
        </p:nvSpPr>
        <p:spPr>
          <a:xfrm>
            <a:off x="4343400" y="5175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892040" y="4992624"/>
            <a:ext cx="6519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注意：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本人が無意識に使っている「前提」を見逃さず引き出す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 / 30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00200"/>
            <a:ext cx="3108960" cy="411480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21945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914400" y="4480560"/>
            <a:ext cx="914400" cy="91440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471830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44805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モデル化・ルール化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645920" y="502920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 OF 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645920" y="786384"/>
            <a:ext cx="9994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モデル化・ルール化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4114800" y="1691640"/>
            <a:ext cx="7525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言葉にした基準を、機械が扱える構造へと組み立て直す。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4114800" y="2468880"/>
            <a:ext cx="752551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43400" y="2651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2"/>
          <p:cNvSpPr/>
          <p:nvPr/>
        </p:nvSpPr>
        <p:spPr>
          <a:xfrm>
            <a:off x="434340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892040" y="2468880"/>
            <a:ext cx="6519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構造化：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基準を条件分岐・判断ツリーとして整理する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114800" y="3310128"/>
            <a:ext cx="752551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43400" y="3493008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6"/>
          <p:cNvSpPr/>
          <p:nvPr/>
        </p:nvSpPr>
        <p:spPr>
          <a:xfrm>
            <a:off x="4343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892040" y="3310128"/>
            <a:ext cx="6519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重み付け：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どの基準を優先するか、価値観を数値・順位に落とし込む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114800" y="4151376"/>
            <a:ext cx="752551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343400" y="4334256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0"/>
          <p:cNvSpPr/>
          <p:nvPr/>
        </p:nvSpPr>
        <p:spPr>
          <a:xfrm>
            <a:off x="434340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892040" y="4151376"/>
            <a:ext cx="6519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例外設計：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定型ルールで割り切れないケースの扱い方を定義する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114800" y="4992624"/>
            <a:ext cx="752551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343400" y="5175504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4"/>
          <p:cNvSpPr/>
          <p:nvPr/>
        </p:nvSpPr>
        <p:spPr>
          <a:xfrm>
            <a:off x="4343400" y="5175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892040" y="4992624"/>
            <a:ext cx="6519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検証性：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後から「なぜその結論か」を追跡できる形にしておく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 / 30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00200"/>
            <a:ext cx="3108960" cy="411480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21945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914400" y="4480560"/>
            <a:ext cx="914400" cy="91440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471830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44805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AIへの実装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645920" y="502920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4 OF 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645920" y="786384"/>
            <a:ext cx="9994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AIへの実装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4114800" y="1691640"/>
            <a:ext cx="7525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整理した判断を、生成AIに載せて実際に動く仕組みにする。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4114800" y="2468880"/>
            <a:ext cx="752551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43400" y="2651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2"/>
          <p:cNvSpPr/>
          <p:nvPr/>
        </p:nvSpPr>
        <p:spPr>
          <a:xfrm>
            <a:off x="434340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892040" y="2468880"/>
            <a:ext cx="6519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中核：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大規模言語モデル(LLM)に判断基準とプロンプトを組み込む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114800" y="3310128"/>
            <a:ext cx="752551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43400" y="3493008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6"/>
          <p:cNvSpPr/>
          <p:nvPr/>
        </p:nvSpPr>
        <p:spPr>
          <a:xfrm>
            <a:off x="4343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892040" y="3310128"/>
            <a:ext cx="6519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知識連携：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RAGで社内文書や過去事例を参照させ、根拠を持たせる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114800" y="4151376"/>
            <a:ext cx="752551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343400" y="4334256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0"/>
          <p:cNvSpPr/>
          <p:nvPr/>
        </p:nvSpPr>
        <p:spPr>
          <a:xfrm>
            <a:off x="434340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892040" y="4151376"/>
            <a:ext cx="6519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出力設計：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結論だけでなく、判断理由もセットで返すよう設計する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114800" y="4992624"/>
            <a:ext cx="752551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343400" y="5175504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4"/>
          <p:cNvSpPr/>
          <p:nvPr/>
        </p:nvSpPr>
        <p:spPr>
          <a:xfrm>
            <a:off x="4343400" y="5175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892040" y="4992624"/>
            <a:ext cx="6519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連携：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既存の業務システム・チャットから呼び出せるようにする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 / 30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00200"/>
            <a:ext cx="3108960" cy="411480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21945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914400" y="4480560"/>
            <a:ext cx="914400" cy="91440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471830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44805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検証と継続的改善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645920" y="502920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5 OF 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645920" y="786384"/>
            <a:ext cx="9994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検証と継続的改善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4114800" y="1691640"/>
            <a:ext cx="7525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作って終わりではない。使いながら精度を育てていく。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4114800" y="2468880"/>
            <a:ext cx="752551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43400" y="2651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2"/>
          <p:cNvSpPr/>
          <p:nvPr/>
        </p:nvSpPr>
        <p:spPr>
          <a:xfrm>
            <a:off x="434340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892040" y="2468880"/>
            <a:ext cx="6519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照合：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AIの判断と、熟練者の実際の判断を突き合わせて評価する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114800" y="3310128"/>
            <a:ext cx="752551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43400" y="3493008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6"/>
          <p:cNvSpPr/>
          <p:nvPr/>
        </p:nvSpPr>
        <p:spPr>
          <a:xfrm>
            <a:off x="4343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892040" y="3310128"/>
            <a:ext cx="6519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フィードバック：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ずれた事例を収集・言語化の工程に戻して修正する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114800" y="4151376"/>
            <a:ext cx="752551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343400" y="4334256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0"/>
          <p:cNvSpPr/>
          <p:nvPr/>
        </p:nvSpPr>
        <p:spPr>
          <a:xfrm>
            <a:off x="434340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892040" y="4151376"/>
            <a:ext cx="6519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更新：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事業環境や方針の変化に合わせて基準を見直す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114800" y="4992624"/>
            <a:ext cx="752551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343400" y="5175504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4"/>
          <p:cNvSpPr/>
          <p:nvPr/>
        </p:nvSpPr>
        <p:spPr>
          <a:xfrm>
            <a:off x="4343400" y="5175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892040" y="4992624"/>
            <a:ext cx="6519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定着：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精度と信頼が高まった領域から、段階的に活用を広げる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 / 30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45920" y="502920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REQUIRED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45920" y="786384"/>
            <a:ext cx="9994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必要となるデータ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デジタルコピーの精度は、集めるデータの質と幅で決まる。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536295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77440"/>
            <a:ext cx="777240" cy="77724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2579522"/>
            <a:ext cx="373075" cy="3730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74520" y="2350008"/>
            <a:ext cx="3808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判断ログ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914400" y="2990088"/>
            <a:ext cx="46771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いつ・何を・どう決めたかの記録。判断の中身そのもの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77356" y="2057400"/>
            <a:ext cx="536295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97396" y="2377440"/>
            <a:ext cx="777240" cy="77724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478" y="2579522"/>
            <a:ext cx="373075" cy="37307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03236" y="2350008"/>
            <a:ext cx="3808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文脈情報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6643116" y="2990088"/>
            <a:ext cx="46771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その判断が置かれた状況・前提・制約条件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48640" y="4069080"/>
            <a:ext cx="536295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68680" y="4389120"/>
            <a:ext cx="777240" cy="77724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591202"/>
            <a:ext cx="373075" cy="3730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74520" y="4361688"/>
            <a:ext cx="3808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結果データ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914400" y="5001768"/>
            <a:ext cx="46771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判断がもたらした成果や結末。良し悪しの答え合わせ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277356" y="4069080"/>
            <a:ext cx="536295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97396" y="4389120"/>
            <a:ext cx="777240" cy="77724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9478" y="4591202"/>
            <a:ext cx="373075" cy="37307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03236" y="4361688"/>
            <a:ext cx="3808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例外事例</a:t>
            </a:r>
            <a:endParaRPr lang="en-US" sz="1900" dirty="0"/>
          </a:p>
        </p:txBody>
      </p:sp>
      <p:sp>
        <p:nvSpPr>
          <p:cNvPr id="26" name="Text 20"/>
          <p:cNvSpPr/>
          <p:nvPr/>
        </p:nvSpPr>
        <p:spPr>
          <a:xfrm>
            <a:off x="6643116" y="5001768"/>
            <a:ext cx="46771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定石が通じなかったケース。判断力の深さが表れる部分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 / 30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1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2C3A78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構築を支える技術基盤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62956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E2761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194560"/>
            <a:ext cx="777240" cy="77724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2396642"/>
            <a:ext cx="373075" cy="373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2167128"/>
            <a:ext cx="3808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生成AI（LLM）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2807208"/>
            <a:ext cx="46771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曖昧な文脈を読み取り、人に近い判断を言語で返す中核エンジン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77356" y="1874520"/>
            <a:ext cx="5362956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E2761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97396" y="2194560"/>
            <a:ext cx="777240" cy="77724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478" y="2396642"/>
            <a:ext cx="373075" cy="3730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03236" y="2167128"/>
            <a:ext cx="3808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RAG（検索拡張）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643116" y="2807208"/>
            <a:ext cx="46771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社内文書や過去事例を参照させ、根拠に基づく判断を実現する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48640" y="3886200"/>
            <a:ext cx="5362956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E2761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4206240"/>
            <a:ext cx="777240" cy="77724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408322"/>
            <a:ext cx="373075" cy="3730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74520" y="4178808"/>
            <a:ext cx="3808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ナレッジグラフ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914400" y="4818888"/>
            <a:ext cx="46771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判断に関わる情報の関係性を構造化し、文脈理解を助ける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6277356" y="3886200"/>
            <a:ext cx="5362956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E2761">
                <a:alpha val="2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97396" y="4206240"/>
            <a:ext cx="777240" cy="77724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9478" y="4408322"/>
            <a:ext cx="373075" cy="37307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03236" y="4178808"/>
            <a:ext cx="3808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MLOps基盤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6643116" y="4818888"/>
            <a:ext cx="46771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精度の監視・再学習・更新を回し、品質を保ち続ける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8894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 / 30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45920" y="502920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ACCURACY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45920" y="786384"/>
            <a:ext cx="9994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精度を高める4つのポイント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532888" cy="3200400"/>
          </a:xfrm>
          <a:prstGeom prst="roundRect">
            <a:avLst>
              <a:gd name="adj" fmla="val 361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03604" y="2286000"/>
            <a:ext cx="822960" cy="82296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7574" y="2499970"/>
            <a:ext cx="395021" cy="3950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291840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事例を厚くする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39776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判断パターンを網羅する十分な事例数を確保する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01568" y="1874520"/>
            <a:ext cx="2532888" cy="3200400"/>
          </a:xfrm>
          <a:prstGeom prst="roundRect">
            <a:avLst>
              <a:gd name="adj" fmla="val 361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56532" y="2286000"/>
            <a:ext cx="822960" cy="82296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502" y="2499970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38728" y="3291840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回し続ける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0168" y="39776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ずれを見つけて戻すフィードバックループを止めない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54496" y="1874520"/>
            <a:ext cx="2532888" cy="3200400"/>
          </a:xfrm>
          <a:prstGeom prst="roundRect">
            <a:avLst>
              <a:gd name="adj" fmla="val 361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09460" y="2286000"/>
            <a:ext cx="822960" cy="82296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430" y="249997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91656" y="3291840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人がレビューする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83096" y="39776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重要判断は人が確認し、AIの学びに反映する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9107424" y="1874520"/>
            <a:ext cx="2532888" cy="3200400"/>
          </a:xfrm>
          <a:prstGeom prst="roundRect">
            <a:avLst>
              <a:gd name="adj" fmla="val 361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962388" y="2286000"/>
            <a:ext cx="822960" cy="82296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6358" y="2499970"/>
            <a:ext cx="395021" cy="39502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44584" y="3291840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領域を絞る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9336024" y="39776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対象業務を限定し、狭く深く精度を追い込む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 / 30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1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2C3A78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導入で得られる効果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498598" cy="3108960"/>
          </a:xfrm>
          <a:prstGeom prst="roundRect">
            <a:avLst>
              <a:gd name="adj" fmla="val 4392"/>
            </a:avLst>
          </a:prstGeom>
          <a:solidFill>
            <a:srgbClr val="2C3A7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286000"/>
            <a:ext cx="22242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速く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85800" y="3383280"/>
            <a:ext cx="22242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判断スピードの向上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977640"/>
            <a:ext cx="20413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熟練者を待たず、その場で一次判断が得られる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12998" y="1920240"/>
            <a:ext cx="2498598" cy="3108960"/>
          </a:xfrm>
          <a:prstGeom prst="roundRect">
            <a:avLst>
              <a:gd name="adj" fmla="val 4392"/>
            </a:avLst>
          </a:prstGeom>
          <a:solidFill>
            <a:srgbClr val="2C3A7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0158" y="2286000"/>
            <a:ext cx="22242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絶えず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550158" y="3383280"/>
            <a:ext cx="22242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ナレッジの継承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41598" y="3977640"/>
            <a:ext cx="20413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退職・異動でも判断力が組織に残り続ける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77356" y="1920240"/>
            <a:ext cx="2498598" cy="3108960"/>
          </a:xfrm>
          <a:prstGeom prst="roundRect">
            <a:avLst>
              <a:gd name="adj" fmla="val 4392"/>
            </a:avLst>
          </a:prstGeom>
          <a:solidFill>
            <a:srgbClr val="2C3A7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4516" y="2286000"/>
            <a:ext cx="22242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ブレず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414516" y="3383280"/>
            <a:ext cx="22242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属人性の解消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05956" y="3977640"/>
            <a:ext cx="20413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誰が使っても一貫した基準で判断できる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1714" y="1920240"/>
            <a:ext cx="2498598" cy="3108960"/>
          </a:xfrm>
          <a:prstGeom prst="roundRect">
            <a:avLst>
              <a:gd name="adj" fmla="val 4392"/>
            </a:avLst>
          </a:prstGeom>
          <a:solidFill>
            <a:srgbClr val="2C3A7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78874" y="2286000"/>
            <a:ext cx="22242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いつでも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278874" y="3383280"/>
            <a:ext cx="22242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24時間の対応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70314" y="3977640"/>
            <a:ext cx="20413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時間・場所を問わず判断を提供できる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8894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 / 30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45920" y="502920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45920" y="786384"/>
            <a:ext cx="9994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活用シーン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45338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075688"/>
            <a:ext cx="658368" cy="658368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424" y="2246864"/>
            <a:ext cx="316017" cy="3160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057400"/>
            <a:ext cx="2173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与信・投資判断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68680" y="2743200"/>
            <a:ext cx="2813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取引先の与信や投資案件の一次評価を支援する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67784" y="1783080"/>
            <a:ext cx="345338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0392" y="2075688"/>
            <a:ext cx="658368" cy="658368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568" y="2246864"/>
            <a:ext cx="316017" cy="31601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65064" y="2057400"/>
            <a:ext cx="2173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人事・採用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687824" y="2743200"/>
            <a:ext cx="2813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評価基準に沿った候補者スクリーニングを行う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86928" y="1783080"/>
            <a:ext cx="345338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79536" y="2075688"/>
            <a:ext cx="658368" cy="658368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712" y="2246864"/>
            <a:ext cx="316017" cy="31601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284208" y="2057400"/>
            <a:ext cx="2173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稟議の一次審査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506968" y="2743200"/>
            <a:ext cx="2813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申請内容を基準と照合し、論点を洗い出す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3749040"/>
            <a:ext cx="345338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41248" y="4041648"/>
            <a:ext cx="658368" cy="658368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424" y="4212824"/>
            <a:ext cx="316017" cy="31601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023360"/>
            <a:ext cx="2173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戦略オプション評価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868680" y="4709160"/>
            <a:ext cx="2813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複数の選択肢を経営視点で比較・整理する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367784" y="3749040"/>
            <a:ext cx="345338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60392" y="4041648"/>
            <a:ext cx="658368" cy="658368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1568" y="4212824"/>
            <a:ext cx="316017" cy="31601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65064" y="4023360"/>
            <a:ext cx="2173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現場の相談対応</a:t>
            </a:r>
            <a:endParaRPr lang="en-US" sz="1550" dirty="0"/>
          </a:p>
        </p:txBody>
      </p:sp>
      <p:sp>
        <p:nvSpPr>
          <p:cNvPr id="30" name="Text 23"/>
          <p:cNvSpPr/>
          <p:nvPr/>
        </p:nvSpPr>
        <p:spPr>
          <a:xfrm>
            <a:off x="4687824" y="4709160"/>
            <a:ext cx="2813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「こんな時どうする？」に経営者目線で即答する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8186928" y="3749040"/>
            <a:ext cx="345338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479536" y="4041648"/>
            <a:ext cx="658368" cy="658368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712" y="4212824"/>
            <a:ext cx="316017" cy="316017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284208" y="4023360"/>
            <a:ext cx="2173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モニタリング</a:t>
            </a:r>
            <a:endParaRPr lang="en-US" sz="1550" dirty="0"/>
          </a:p>
        </p:txBody>
      </p:sp>
      <p:sp>
        <p:nvSpPr>
          <p:cNvPr id="35" name="Text 27"/>
          <p:cNvSpPr/>
          <p:nvPr/>
        </p:nvSpPr>
        <p:spPr>
          <a:xfrm>
            <a:off x="8506968" y="4709160"/>
            <a:ext cx="2813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異常や判断が必要な兆候を早期に検知する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 / 30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45920" y="502920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 EXAMPLE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45920" y="786384"/>
            <a:ext cx="9994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導入イメージ（事例）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1E2761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1856232"/>
            <a:ext cx="640080" cy="64008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022653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1645920"/>
            <a:ext cx="95371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ある中堅商社の与信判断 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ベテラン審査役の“目利き”が、退職を機に失われる危機に直面。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3453384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246120"/>
            <a:ext cx="1463040" cy="502920"/>
          </a:xfrm>
          <a:prstGeom prst="roundRect">
            <a:avLst>
              <a:gd name="adj" fmla="val 49091"/>
            </a:avLst>
          </a:prstGeom>
          <a:solidFill>
            <a:srgbClr val="CADCFC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246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Before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41248" y="3977640"/>
            <a:ext cx="2868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審査役1人に依存。判断理由は本人の頭の中で、若手には再現できなかった。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002024" y="2926080"/>
            <a:ext cx="365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367784" y="2926080"/>
            <a:ext cx="3453384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42104" y="3246120"/>
            <a:ext cx="1463040" cy="502920"/>
          </a:xfrm>
          <a:prstGeom prst="roundRect">
            <a:avLst>
              <a:gd name="adj" fmla="val 49091"/>
            </a:avLst>
          </a:prstGeom>
          <a:solidFill>
            <a:srgbClr val="CADCFC"/>
          </a:solidFill>
          <a:ln/>
        </p:spPr>
      </p:sp>
      <p:sp>
        <p:nvSpPr>
          <p:cNvPr id="17" name="Text 14"/>
          <p:cNvSpPr/>
          <p:nvPr/>
        </p:nvSpPr>
        <p:spPr>
          <a:xfrm>
            <a:off x="4642104" y="3246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構築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660392" y="3977640"/>
            <a:ext cx="2868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過去5年の審査記録を収集し、判断基準をインタビューで言語化・モデル化。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821168" y="2926080"/>
            <a:ext cx="365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186928" y="2926080"/>
            <a:ext cx="3453384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61248" y="3246120"/>
            <a:ext cx="1463040" cy="502920"/>
          </a:xfrm>
          <a:prstGeom prst="roundRect">
            <a:avLst>
              <a:gd name="adj" fmla="val 49091"/>
            </a:avLst>
          </a:prstGeom>
          <a:solidFill>
            <a:srgbClr val="00BCD4"/>
          </a:solidFill>
          <a:ln/>
        </p:spPr>
      </p:sp>
      <p:sp>
        <p:nvSpPr>
          <p:cNvPr id="22" name="Text 19"/>
          <p:cNvSpPr/>
          <p:nvPr/>
        </p:nvSpPr>
        <p:spPr>
          <a:xfrm>
            <a:off x="8461248" y="3246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After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479536" y="3977640"/>
            <a:ext cx="2868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AIが一次審査で論点と推奨を提示。審査役は最終判断と例外対応に集中。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 / 30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45920" y="502920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CAUTIONS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45920" y="786384"/>
            <a:ext cx="9994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リスクと注意点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6295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103120"/>
            <a:ext cx="777240" cy="7772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2305202"/>
            <a:ext cx="373075" cy="373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2075688"/>
            <a:ext cx="3808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バイアスの継承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2715768"/>
            <a:ext cx="46771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元の判断者が持つ偏りや思い込みまで、そのまま複製してしまう恐れ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77356" y="1783080"/>
            <a:ext cx="536295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97396" y="2103120"/>
            <a:ext cx="777240" cy="7772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478" y="2305202"/>
            <a:ext cx="373075" cy="3730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03236" y="2075688"/>
            <a:ext cx="3808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過度な依存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643116" y="2715768"/>
            <a:ext cx="46771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AIの結論を鵜呑みにし、人が考えることをやめてしまうリスク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48640" y="3840480"/>
            <a:ext cx="536295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4160520"/>
            <a:ext cx="777240" cy="7772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362602"/>
            <a:ext cx="373075" cy="3730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74520" y="4133088"/>
            <a:ext cx="3808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説明責任の所在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914400" y="4773168"/>
            <a:ext cx="46771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AIの判断で問題が起きたとき、誰が責任を負うのかを明確にする必要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6277356" y="3840480"/>
            <a:ext cx="536295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97396" y="4160520"/>
            <a:ext cx="777240" cy="7772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9478" y="4362602"/>
            <a:ext cx="373075" cy="37307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03236" y="4133088"/>
            <a:ext cx="3808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陳腐化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6643116" y="4773168"/>
            <a:ext cx="46771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環境や方針が変われば、過去基準のコピーは通用しなくなる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 / 30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21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2C3A78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IN THE LOOP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人間の役割は、変わる。なくならない。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デジタルコピーは人を置き換える道具ではなく、人の判断力を増幅する道具である。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2498598" cy="2926080"/>
          </a:xfrm>
          <a:prstGeom prst="roundRect">
            <a:avLst>
              <a:gd name="adj" fmla="val 43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86459" y="2606040"/>
            <a:ext cx="822960" cy="82296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429" y="2820010"/>
            <a:ext cx="395021" cy="39502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61188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最終判断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77240" y="4114800"/>
            <a:ext cx="20413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重要な意思決定の最後の一線は人が握る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412998" y="2240280"/>
            <a:ext cx="2498598" cy="2926080"/>
          </a:xfrm>
          <a:prstGeom prst="roundRect">
            <a:avLst>
              <a:gd name="adj" fmla="val 43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50817" y="2606040"/>
            <a:ext cx="822960" cy="82296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787" y="2820010"/>
            <a:ext cx="395021" cy="39502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50158" y="361188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例外への対応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641598" y="4114800"/>
            <a:ext cx="20413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前例のない状況は人の創造性で乗り切る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77356" y="2240280"/>
            <a:ext cx="2498598" cy="2926080"/>
          </a:xfrm>
          <a:prstGeom prst="roundRect">
            <a:avLst>
              <a:gd name="adj" fmla="val 43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2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15175" y="2606040"/>
            <a:ext cx="822960" cy="82296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145" y="2820010"/>
            <a:ext cx="395021" cy="39502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14516" y="361188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価値観の更新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505956" y="4114800"/>
            <a:ext cx="20413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何を大切にするかを定め、AIに教え続ける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9141714" y="2240280"/>
            <a:ext cx="2498598" cy="2926080"/>
          </a:xfrm>
          <a:prstGeom prst="roundRect">
            <a:avLst>
              <a:gd name="adj" fmla="val 43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2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979533" y="2606040"/>
            <a:ext cx="822960" cy="82296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3503" y="2820010"/>
            <a:ext cx="395021" cy="39502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78874" y="361188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監督と是正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9370314" y="4114800"/>
            <a:ext cx="20413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AIの判断を見張り、ずれを正す責任を持つ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8894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27 / 30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45920" y="502920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45920" y="786384"/>
            <a:ext cx="9994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倫理とガバナンス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判断をAIに委ねるほど、その正しさを担保する仕組みが重要になる。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2532888" cy="3063240"/>
          </a:xfrm>
          <a:prstGeom prst="roundRect">
            <a:avLst>
              <a:gd name="adj" fmla="val 361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03604" y="2468880"/>
            <a:ext cx="822960" cy="82296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7574" y="2682850"/>
            <a:ext cx="395021" cy="39502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47472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透明性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77240" y="39776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判断の根拠を追跡・説明できる状態を保つ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401568" y="2057400"/>
            <a:ext cx="2532888" cy="3063240"/>
          </a:xfrm>
          <a:prstGeom prst="roundRect">
            <a:avLst>
              <a:gd name="adj" fmla="val 361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56532" y="2468880"/>
            <a:ext cx="822960" cy="82296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502" y="2682850"/>
            <a:ext cx="395021" cy="39502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38728" y="347472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責任の明確化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630168" y="39776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最終責任は人・組織にあることを定義する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54496" y="2057400"/>
            <a:ext cx="2532888" cy="3063240"/>
          </a:xfrm>
          <a:prstGeom prst="roundRect">
            <a:avLst>
              <a:gd name="adj" fmla="val 361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09460" y="2468880"/>
            <a:ext cx="822960" cy="82296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430" y="2682850"/>
            <a:ext cx="395021" cy="39502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91656" y="347472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定期監査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483096" y="39776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判断の偏りや誤りを定期的に点検・是正する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9107424" y="2057400"/>
            <a:ext cx="2532888" cy="3063240"/>
          </a:xfrm>
          <a:prstGeom prst="roundRect">
            <a:avLst>
              <a:gd name="adj" fmla="val 361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962388" y="2468880"/>
            <a:ext cx="822960" cy="82296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6358" y="2682850"/>
            <a:ext cx="395021" cy="39502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44584" y="347472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更新プロセス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9336024" y="39776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基準の見直し手順とルールを整備しておく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 / 30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45920" y="502920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45920" y="786384"/>
            <a:ext cx="9994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導入ロードマップ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645920" y="2788920"/>
            <a:ext cx="8897112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295019" y="2286000"/>
            <a:ext cx="1005840" cy="100584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6537" y="2547518"/>
            <a:ext cx="482803" cy="482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429000"/>
            <a:ext cx="24985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3749040"/>
            <a:ext cx="2498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準備・診断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4343400"/>
            <a:ext cx="249859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7240" y="4480560"/>
            <a:ext cx="20413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属人化している判断を洗い出し、対象領域を選ぶ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159377" y="2286000"/>
            <a:ext cx="1005840" cy="100584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895" y="2547518"/>
            <a:ext cx="482803" cy="482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12998" y="3429000"/>
            <a:ext cx="24985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12998" y="3749040"/>
            <a:ext cx="2498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PoC（試作）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3412998" y="4343400"/>
            <a:ext cx="249859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3641598" y="4480560"/>
            <a:ext cx="20413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1領域で収集〜実装を試し、再現できるか検証する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023735" y="2286000"/>
            <a:ext cx="1005840" cy="100584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253" y="2547518"/>
            <a:ext cx="482803" cy="48280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77356" y="3429000"/>
            <a:ext cx="24985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277356" y="3749040"/>
            <a:ext cx="2498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部分導入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6277356" y="4343400"/>
            <a:ext cx="249859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6505956" y="4480560"/>
            <a:ext cx="20413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効果が確認できた業務から実運用に乗せる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9888093" y="2286000"/>
            <a:ext cx="1005840" cy="100584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25400" dir="5400000">
              <a:srgbClr val="00BCD4">
                <a:alpha val="28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611" y="2547518"/>
            <a:ext cx="482803" cy="48280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41714" y="3429000"/>
            <a:ext cx="24985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4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9141714" y="3749040"/>
            <a:ext cx="2498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全社展開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9141714" y="4343400"/>
            <a:ext cx="249859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0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9370314" y="4480560"/>
            <a:ext cx="20413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1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領域を広げ、改善ループを組織文化として定着させる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9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29 / 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21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2C3A78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このセクションのまとめ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62956" cy="1280160"/>
          </a:xfrm>
          <a:prstGeom prst="roundRect">
            <a:avLst>
              <a:gd name="adj" fmla="val 7143"/>
            </a:avLst>
          </a:prstGeom>
          <a:solidFill>
            <a:srgbClr val="2C3A7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1993392"/>
            <a:ext cx="41742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属人化は経営リスク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377440"/>
            <a:ext cx="41742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重要な判断が個人に依存する状態は、事業継続・品質・成長のリスクになる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7356" y="1828800"/>
            <a:ext cx="5362956" cy="1280160"/>
          </a:xfrm>
          <a:prstGeom prst="roundRect">
            <a:avLst>
              <a:gd name="adj" fmla="val 7143"/>
            </a:avLst>
          </a:prstGeom>
          <a:solidFill>
            <a:srgbClr val="2C3A7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51676" y="2194560"/>
            <a:ext cx="548640" cy="54864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3" name="Text 11"/>
          <p:cNvSpPr/>
          <p:nvPr/>
        </p:nvSpPr>
        <p:spPr>
          <a:xfrm>
            <a:off x="6551676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283196" y="1993392"/>
            <a:ext cx="41742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判断は分解できる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83196" y="2377440"/>
            <a:ext cx="41742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情報・基準・価値観に分け、暗黙知を形式知に変えれば再現の対象になる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64992"/>
            <a:ext cx="5362956" cy="1280160"/>
          </a:xfrm>
          <a:prstGeom prst="roundRect">
            <a:avLst>
              <a:gd name="adj" fmla="val 7143"/>
            </a:avLst>
          </a:prstGeom>
          <a:solidFill>
            <a:srgbClr val="2C3A7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730752"/>
            <a:ext cx="548640" cy="54864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730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54480" y="3529584"/>
            <a:ext cx="41742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5ステップで構築する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3913632"/>
            <a:ext cx="41742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収集→言語化→モデル化→AI実装→検証改善のループで判断を資産化する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77356" y="3364992"/>
            <a:ext cx="5362956" cy="1280160"/>
          </a:xfrm>
          <a:prstGeom prst="roundRect">
            <a:avLst>
              <a:gd name="adj" fmla="val 7143"/>
            </a:avLst>
          </a:prstGeom>
          <a:solidFill>
            <a:srgbClr val="2C3A7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51676" y="3730752"/>
            <a:ext cx="548640" cy="54864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23" name="Text 21"/>
          <p:cNvSpPr/>
          <p:nvPr/>
        </p:nvSpPr>
        <p:spPr>
          <a:xfrm>
            <a:off x="6551676" y="3730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83196" y="3529584"/>
            <a:ext cx="41742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人間が主役であり続ける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83196" y="3913632"/>
            <a:ext cx="41742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最終判断・例外対応・価値観の更新・監督は、人が担い続ける役割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074920"/>
            <a:ext cx="11091672" cy="868680"/>
          </a:xfrm>
          <a:prstGeom prst="roundRect">
            <a:avLst>
              <a:gd name="adj" fmla="val 14737"/>
            </a:avLst>
          </a:prstGeom>
          <a:solidFill>
            <a:srgbClr val="00BCD4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5074920"/>
            <a:ext cx="10177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NEXT  </a:t>
            </a:r>
            <a:pPr indent="0" marL="0">
              <a:buNone/>
            </a:pPr>
            <a:r>
              <a:rPr lang="en-US" sz="1500" b="1" dirty="0">
                <a:solidFill>
                  <a:srgbClr val="121A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1-2 では、収集した判断事例から「判断基準」を引き出す具体的な手法を学びます。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SECTION 1-1</a:t>
            </a:r>
            <a:pPr algn="l" indent="0" marL="0">
              <a:buNone/>
            </a:pPr>
            <a:r>
              <a:rPr lang="en-US" sz="900" dirty="0">
                <a:solidFill>
                  <a:srgbClr val="8894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｜  経営判断のデジタルコピー構築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 / 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2026-08-07T10:11:08Z</dcterms:created>
  <dcterms:modified xsi:type="dcterms:W3CDTF">2026-08-07T10:11:08Z</dcterms:modified>
</cp:coreProperties>
</file>